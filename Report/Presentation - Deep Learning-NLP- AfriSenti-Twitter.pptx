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8" r:id="rId2"/>
    <p:sldId id="285" r:id="rId3"/>
    <p:sldId id="284" r:id="rId4"/>
    <p:sldId id="287" r:id="rId5"/>
    <p:sldId id="258" r:id="rId6"/>
    <p:sldId id="257" r:id="rId7"/>
    <p:sldId id="291" r:id="rId8"/>
    <p:sldId id="292" r:id="rId9"/>
    <p:sldId id="294" r:id="rId10"/>
    <p:sldId id="293" r:id="rId11"/>
    <p:sldId id="295" r:id="rId12"/>
    <p:sldId id="296" r:id="rId13"/>
    <p:sldId id="297" r:id="rId14"/>
    <p:sldId id="298" r:id="rId15"/>
    <p:sldId id="289" r:id="rId16"/>
    <p:sldId id="268" r:id="rId17"/>
    <p:sldId id="299" r:id="rId18"/>
    <p:sldId id="264" r:id="rId19"/>
    <p:sldId id="265" r:id="rId20"/>
    <p:sldId id="300" r:id="rId21"/>
    <p:sldId id="302" r:id="rId22"/>
    <p:sldId id="301" r:id="rId23"/>
    <p:sldId id="303" r:id="rId24"/>
    <p:sldId id="304" r:id="rId25"/>
    <p:sldId id="305" r:id="rId26"/>
    <p:sldId id="306" r:id="rId27"/>
    <p:sldId id="307" r:id="rId28"/>
    <p:sldId id="290" r:id="rId29"/>
  </p:sldIdLst>
  <p:sldSz cx="12192000" cy="6858000"/>
  <p:notesSz cx="6858000" cy="9144000"/>
  <p:defaultTextStyle>
    <a:defPPr>
      <a:defRPr lang="en-U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59" d="100"/>
          <a:sy n="59" d="100"/>
        </p:scale>
        <p:origin x="8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4938F-ADEC-3EB9-B448-21B23CCB21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B23C97-7E74-DF1F-6469-36A7636E5D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24D36-3C41-6DD9-1AFE-DDFDBD2A6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38531-230B-4A6D-9811-B1635E26052B}" type="datetimeFigureOut">
              <a:rPr lang="en-UG" smtClean="0"/>
              <a:t>03/12/2025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C1C19-0551-5553-C065-0D496F6D1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CA721-080E-826A-9282-731566701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70347-BCDC-4BC3-8D99-144BF16FF089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685905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CDCF6-7AB5-77CE-9DB6-0424E4C4D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7DB5F-FD89-C688-04C6-43CA71D8A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43F96F-8C71-A353-BC9F-415E7DA44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38531-230B-4A6D-9811-B1635E26052B}" type="datetimeFigureOut">
              <a:rPr lang="en-UG" smtClean="0"/>
              <a:t>03/12/2025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28E08-E2D4-7A40-41A1-2524B9418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D0A0D1-D304-732C-3957-CC7770B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70347-BCDC-4BC3-8D99-144BF16FF089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848492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B6F85-B011-7647-AE3C-BE564BFD3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00C16E-B992-860F-60DC-B4994F999D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756E51-2187-78D1-76E1-F1AB6C6EE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38531-230B-4A6D-9811-B1635E26052B}" type="datetimeFigureOut">
              <a:rPr lang="en-UG" smtClean="0"/>
              <a:t>03/12/2025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4AB18-C6F7-D910-BE3C-9CA82A422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1DD496-E1ED-68A9-BF11-3064846F2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70347-BCDC-4BC3-8D99-144BF16FF089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63797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585C0-A4E1-5D74-A434-21E1A06EB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C6476-74F0-6B55-704F-0AA2F558E9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E76ECC-A22B-0889-6D41-213AB64513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E9A6EA-2B97-6236-FBA4-E7BA6E793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38531-230B-4A6D-9811-B1635E26052B}" type="datetimeFigureOut">
              <a:rPr lang="en-UG" smtClean="0"/>
              <a:t>03/12/2025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C973E8-39C0-0D43-A539-3DD152D14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099231-8B86-DD8E-90BE-E6063C871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70347-BCDC-4BC3-8D99-144BF16FF089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867176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D3B59-B81D-8865-2038-171A17735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D1B11B-B807-AC1D-1447-A2535E322A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1C462C-049D-96F1-8D17-72CC7F7471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17B8B8-0F3E-08CA-05F0-80E7046347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6C621A-A709-B6FB-7A10-B30B3FA29C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C5515B-3343-61FC-9D99-A58557E7B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38531-230B-4A6D-9811-B1635E26052B}" type="datetimeFigureOut">
              <a:rPr lang="en-UG" smtClean="0"/>
              <a:t>03/12/2025</a:t>
            </a:fld>
            <a:endParaRPr lang="en-U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2FAA3A-6564-4FF6-7AE6-01405052A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8FFB8A-4343-90F9-D95F-7EBB9C986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70347-BCDC-4BC3-8D99-144BF16FF089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366103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A4CEB-D15E-37F2-C1E5-D1E37C14E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52F661-11A7-D54B-EFBF-50BE61EF6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38531-230B-4A6D-9811-B1635E26052B}" type="datetimeFigureOut">
              <a:rPr lang="en-UG" smtClean="0"/>
              <a:t>03/12/2025</a:t>
            </a:fld>
            <a:endParaRPr lang="en-U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0DC7DF-CF66-7F7A-BAFF-14E20D2E9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56E850-1696-32E5-9F5C-C324F7EB1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70347-BCDC-4BC3-8D99-144BF16FF089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125290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989E15-8C64-E1C9-5403-7E249CA8A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38531-230B-4A6D-9811-B1635E26052B}" type="datetimeFigureOut">
              <a:rPr lang="en-UG" smtClean="0"/>
              <a:t>03/12/2025</a:t>
            </a:fld>
            <a:endParaRPr lang="en-U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7A21C9-6C94-E3C2-942C-47EE87065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E84F0E-D56D-BA83-B1BD-74BC7AA03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70347-BCDC-4BC3-8D99-144BF16FF089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331363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6C2D9-FCCB-BA27-3B44-8845D9D12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3BC8D-184E-AA00-5C8C-4C883BA0E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761F3B-7FB4-54FC-7362-56D61CF9D5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DA20A4-31C2-9BD0-3B22-7DB97A6CA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38531-230B-4A6D-9811-B1635E26052B}" type="datetimeFigureOut">
              <a:rPr lang="en-UG" smtClean="0"/>
              <a:t>03/12/2025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738204-98F2-AF71-5921-F9A4CF3AF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C425B0-3623-8218-0A0B-264B0C1A6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70347-BCDC-4BC3-8D99-144BF16FF089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579597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81723-A29E-F050-0A61-153A784EB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B034F4-2E52-D3CE-90B8-8522CC583E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1460E3-6C12-0A2E-FA57-098A33C580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53B163-5564-DC8C-61C2-9624EB9C3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38531-230B-4A6D-9811-B1635E26052B}" type="datetimeFigureOut">
              <a:rPr lang="en-UG" smtClean="0"/>
              <a:t>03/12/2025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944B8D-3980-FC64-C7A5-AE6BD4E47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B2FADA-F53F-D05D-5EEC-D32FAB965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70347-BCDC-4BC3-8D99-144BF16FF089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535261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B065B-BF59-4059-6B99-A63CC7F60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A79E77-A1A0-19A7-858C-B1B7C1172F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A03110-6D53-0EC5-3B86-EBA1BA9FD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38531-230B-4A6D-9811-B1635E26052B}" type="datetimeFigureOut">
              <a:rPr lang="en-UG" smtClean="0"/>
              <a:t>03/12/2025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5FEA3-14A7-40DB-B3D1-042715DF5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1DEB7-5194-3244-FCBC-A4A459416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70347-BCDC-4BC3-8D99-144BF16FF089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796181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B46EF7-4901-4500-D69F-D6370CAFA4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7C6AD7-9841-2583-DFB5-5706445483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3A0AF-7A18-448C-F5F0-73674F032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38531-230B-4A6D-9811-B1635E26052B}" type="datetimeFigureOut">
              <a:rPr lang="en-UG" smtClean="0"/>
              <a:t>03/12/2025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55FDB4-5C0E-C1B3-DDD8-E5886297A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06329-07D2-AF81-8B78-6E0012B14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70347-BCDC-4BC3-8D99-144BF16FF089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325470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D01B61-BC43-FA50-3722-2A41FDC31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06AE6-B204-5014-3ADF-E6002AE5DE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5F160-9A44-15B2-159C-4CE210D626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038531-230B-4A6D-9811-B1635E26052B}" type="datetimeFigureOut">
              <a:rPr lang="en-UG" smtClean="0"/>
              <a:t>03/12/2025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9002AD-F30A-E934-497A-0902498C0D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A00B7-03B2-6F98-0472-F7FB13B30C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270347-BCDC-4BC3-8D99-144BF16FF089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568709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s://aclanthology.org/2023.emnlp-main.862.pdf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uggingface.co/datasets/HausaNLP/AfriSenti-Twitter" TargetMode="External"/><Relationship Id="rId5" Type="http://schemas.openxmlformats.org/officeDocument/2006/relationships/hyperlink" Target="https://codalab.lisn.upsaclay.fr/competitions/7320" TargetMode="Externa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3C700-0C7B-8A4F-1C5B-298DA87586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784" y="1947905"/>
            <a:ext cx="9856430" cy="277536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Natural Language Processing</a:t>
            </a:r>
            <a:br>
              <a:rPr lang="en-US" b="1" dirty="0"/>
            </a:br>
            <a:r>
              <a:rPr lang="en-US" b="1" dirty="0"/>
              <a:t>Sentiment Analysis -</a:t>
            </a:r>
            <a:br>
              <a:rPr lang="en-US" b="1" dirty="0"/>
            </a:br>
            <a:r>
              <a:rPr lang="en-US" sz="3300" dirty="0" err="1"/>
              <a:t>AfriSenti</a:t>
            </a:r>
            <a:r>
              <a:rPr lang="en-US" sz="3300" dirty="0"/>
              <a:t> Twitter Sentiment dataset</a:t>
            </a:r>
            <a:endParaRPr lang="en-UG" sz="3300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FE9A0F3-663F-D3CB-EF51-0E18C3071B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966419"/>
              </p:ext>
            </p:extLst>
          </p:nvPr>
        </p:nvGraphicFramePr>
        <p:xfrm>
          <a:off x="2065177" y="5066110"/>
          <a:ext cx="8061645" cy="1200173"/>
        </p:xfrm>
        <a:graphic>
          <a:graphicData uri="http://schemas.openxmlformats.org/drawingml/2006/table">
            <a:tbl>
              <a:tblPr/>
              <a:tblGrid>
                <a:gridCol w="2810059">
                  <a:extLst>
                    <a:ext uri="{9D8B030D-6E8A-4147-A177-3AD203B41FA5}">
                      <a16:colId xmlns:a16="http://schemas.microsoft.com/office/drawing/2014/main" val="4234424127"/>
                    </a:ext>
                  </a:extLst>
                </a:gridCol>
                <a:gridCol w="5251586">
                  <a:extLst>
                    <a:ext uri="{9D8B030D-6E8A-4147-A177-3AD203B41FA5}">
                      <a16:colId xmlns:a16="http://schemas.microsoft.com/office/drawing/2014/main" val="3473141048"/>
                    </a:ext>
                  </a:extLst>
                </a:gridCol>
              </a:tblGrid>
              <a:tr h="357016"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STUDENTS (GROUP2)</a:t>
                      </a:r>
                      <a:endParaRPr lang="en-UG" sz="2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12886" marR="112886" marT="56443" marB="5644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AINEDEMBE DENIS       2024-M132-23999</a:t>
                      </a:r>
                      <a:endParaRPr lang="en-UG" sz="2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1517" marR="11517" marT="115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623798"/>
                  </a:ext>
                </a:extLst>
              </a:tr>
              <a:tr h="486141">
                <a:tc vMerge="1">
                  <a:txBody>
                    <a:bodyPr/>
                    <a:lstStyle/>
                    <a:p>
                      <a:endParaRPr lang="en-U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G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MUSINGUZI BENSON    2024-M132-23947</a:t>
                      </a:r>
                    </a:p>
                  </a:txBody>
                  <a:tcPr marL="11517" marR="11517" marT="115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328472"/>
                  </a:ext>
                </a:extLst>
              </a:tr>
              <a:tr h="3570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LECTURER </a:t>
                      </a:r>
                      <a:endParaRPr lang="en-UG" sz="2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1517" marR="11517" marT="115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Dr. </a:t>
                      </a:r>
                      <a:r>
                        <a:rPr lang="en-CA" sz="2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Sibitenda</a:t>
                      </a:r>
                      <a:r>
                        <a:rPr lang="en-CA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Harriet</a:t>
                      </a:r>
                      <a:endParaRPr lang="en-UG" sz="2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1517" marR="11517" marT="1151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8814536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134FA84F-DBD1-06EC-740A-A3FE53A1DF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1290" y="280784"/>
            <a:ext cx="2061740" cy="2186693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6F32AB4-D3AD-B4CF-2ED4-B849268CD692}"/>
              </a:ext>
            </a:extLst>
          </p:cNvPr>
          <p:cNvSpPr txBox="1"/>
          <p:nvPr/>
        </p:nvSpPr>
        <p:spPr>
          <a:xfrm>
            <a:off x="882570" y="958731"/>
            <a:ext cx="60940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b="1" dirty="0"/>
              <a:t>MASTER OF SCIENCE OF INFORMATION SYSTEMS</a:t>
            </a:r>
          </a:p>
          <a:p>
            <a:r>
              <a:rPr lang="en-UG" dirty="0"/>
              <a:t>INTELLIGENT SYSTEMS</a:t>
            </a:r>
          </a:p>
        </p:txBody>
      </p:sp>
    </p:spTree>
    <p:extLst>
      <p:ext uri="{BB962C8B-B14F-4D97-AF65-F5344CB8AC3E}">
        <p14:creationId xmlns:p14="http://schemas.microsoft.com/office/powerpoint/2010/main" val="1787801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084" y="321906"/>
            <a:ext cx="10700657" cy="454704"/>
          </a:xfrm>
        </p:spPr>
        <p:txBody>
          <a:bodyPr>
            <a:normAutofit fontScale="90000"/>
          </a:bodyPr>
          <a:lstStyle/>
          <a:p>
            <a:r>
              <a:rPr b="1" dirty="0">
                <a:solidFill>
                  <a:srgbClr val="0070C0"/>
                </a:solidFill>
              </a:rPr>
              <a:t>About the </a:t>
            </a:r>
            <a:r>
              <a:rPr lang="en-US" b="1" dirty="0" err="1">
                <a:solidFill>
                  <a:srgbClr val="0070C0"/>
                </a:solidFill>
              </a:rPr>
              <a:t>AfriSenti</a:t>
            </a:r>
            <a:r>
              <a:rPr lang="en-US" b="1" dirty="0">
                <a:solidFill>
                  <a:srgbClr val="0070C0"/>
                </a:solidFill>
              </a:rPr>
              <a:t> Twitter Sentiment Dataset</a:t>
            </a:r>
            <a:endParaRPr b="1" dirty="0">
              <a:solidFill>
                <a:srgbClr val="0070C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BF4587-D6A3-77D9-2685-CA5E6B6EAA2D}"/>
              </a:ext>
            </a:extLst>
          </p:cNvPr>
          <p:cNvSpPr txBox="1"/>
          <p:nvPr/>
        </p:nvSpPr>
        <p:spPr>
          <a:xfrm>
            <a:off x="468084" y="948690"/>
            <a:ext cx="8169278" cy="447814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G" sz="1900" dirty="0"/>
              <a:t>The dataset contains 110,000+ annotated tweets across 14 African languages</a:t>
            </a:r>
            <a:r>
              <a:rPr lang="en-US" sz="1900" dirty="0"/>
              <a:t>; </a:t>
            </a:r>
            <a:r>
              <a:rPr lang="en-UG" sz="1900" dirty="0"/>
              <a:t> Amharic, Algerian Arabic, Hausa, Igbo, Kinyarwanda, Mozambican Portuguese, Nigerian Pidgin, Oromo, Swahili, Tigrinya, Twi, Xitsonga, Yoruba</a:t>
            </a:r>
            <a:endParaRPr lang="en-US" sz="19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G" sz="19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G" sz="1900" dirty="0"/>
              <a:t>Tweets are </a:t>
            </a:r>
            <a:r>
              <a:rPr lang="en-UG" sz="1900" dirty="0" err="1"/>
              <a:t>labeled</a:t>
            </a:r>
            <a:r>
              <a:rPr lang="en-UG" sz="1900" dirty="0"/>
              <a:t> by three annotators into three sentiment categories: Positive, Negative, Neutra</a:t>
            </a:r>
            <a:r>
              <a:rPr lang="en-US" sz="1900" dirty="0"/>
              <a:t>l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G" sz="19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G" sz="1900" dirty="0"/>
              <a:t>All tweets are anonymized (@user) and URLs removed to protect user privacy</a:t>
            </a:r>
            <a:endParaRPr lang="en-US" sz="19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G" sz="19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G" sz="1900" dirty="0"/>
              <a:t>Designed for </a:t>
            </a:r>
            <a:r>
              <a:rPr lang="en-US" sz="1900" dirty="0"/>
              <a:t>Monolingual and </a:t>
            </a:r>
            <a:r>
              <a:rPr lang="en-UG" sz="1900" dirty="0"/>
              <a:t>multilingual and sentiment analysis, supporting research on African languages which are underrepresented in NLP.</a:t>
            </a:r>
          </a:p>
          <a:p>
            <a:pPr algn="just"/>
            <a:endParaRPr lang="en-UG" sz="1900" dirty="0"/>
          </a:p>
          <a:p>
            <a:pPr algn="just"/>
            <a:r>
              <a:rPr lang="en-UG" sz="1900" b="1" dirty="0"/>
              <a:t>Why this dataset matters: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G" sz="1900" dirty="0"/>
              <a:t>African languages make up 30% of the world’s languages, yet lack NLP datasets (UNESCO) -  </a:t>
            </a:r>
            <a:r>
              <a:rPr lang="en-UG" sz="1900" dirty="0" err="1"/>
              <a:t>AfriSenti</a:t>
            </a:r>
            <a:r>
              <a:rPr lang="en-UG" sz="1900" dirty="0"/>
              <a:t> fills this gap</a:t>
            </a:r>
            <a:endParaRPr lang="en-US" sz="19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16D5B9-F00C-384E-790B-583E7DB0D6B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18" b="24108"/>
          <a:stretch>
            <a:fillRect/>
          </a:stretch>
        </p:blipFill>
        <p:spPr bwMode="auto">
          <a:xfrm>
            <a:off x="8928163" y="1059234"/>
            <a:ext cx="2859187" cy="169448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6065CE0-12DA-3BED-4C1E-F6507548FD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8163" y="2941470"/>
            <a:ext cx="2916009" cy="9112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F7BE374-2703-A658-7937-DA2D2213CB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4119" y="3890823"/>
            <a:ext cx="2762392" cy="26925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42F8574-0A8E-7A5C-04B4-CD24543C2831}"/>
              </a:ext>
            </a:extLst>
          </p:cNvPr>
          <p:cNvSpPr txBox="1"/>
          <p:nvPr/>
        </p:nvSpPr>
        <p:spPr>
          <a:xfrm>
            <a:off x="478969" y="5481269"/>
            <a:ext cx="8158393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1800" b="1" dirty="0"/>
              <a:t>References: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Codalab</a:t>
            </a:r>
            <a:r>
              <a:rPr lang="en-US" dirty="0"/>
              <a:t>: </a:t>
            </a:r>
            <a:r>
              <a:rPr lang="en-UG" sz="1800" dirty="0">
                <a:hlinkClick r:id="rId5"/>
              </a:rPr>
              <a:t>https://codalab.lisn.upsaclay.fr/competitions/7320</a:t>
            </a:r>
            <a:r>
              <a:rPr lang="en-US" sz="1800" dirty="0"/>
              <a:t> 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Hugging Face: </a:t>
            </a:r>
            <a:r>
              <a:rPr lang="en-UG" sz="1800" dirty="0">
                <a:hlinkClick r:id="rId6"/>
              </a:rPr>
              <a:t>https://huggingface.co/datasets/HausaNLP/AfriSenti-Twitter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ACL Anthology:  </a:t>
            </a:r>
            <a:r>
              <a:rPr lang="en-US" dirty="0">
                <a:hlinkClick r:id="rId7"/>
              </a:rPr>
              <a:t>https://aclanthology.org/2023.emnlp-main.862.pdf</a:t>
            </a:r>
            <a:r>
              <a:rPr lang="en-US" dirty="0"/>
              <a:t>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E9EB28-5E39-458F-A6FB-D28361B4D5F8}"/>
              </a:ext>
            </a:extLst>
          </p:cNvPr>
          <p:cNvSpPr/>
          <p:nvPr/>
        </p:nvSpPr>
        <p:spPr>
          <a:xfrm>
            <a:off x="8730343" y="948690"/>
            <a:ext cx="3254828" cy="5732908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G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6686" y="339950"/>
            <a:ext cx="8229600" cy="443821"/>
          </a:xfrm>
        </p:spPr>
        <p:txBody>
          <a:bodyPr>
            <a:normAutofit fontScale="90000"/>
          </a:bodyPr>
          <a:lstStyle/>
          <a:p>
            <a:pPr algn="l"/>
            <a:r>
              <a:rPr b="1" dirty="0">
                <a:solidFill>
                  <a:srgbClr val="0070C0"/>
                </a:solidFill>
              </a:rP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023256"/>
            <a:ext cx="10700657" cy="5388429"/>
          </a:xfrm>
          <a:ln>
            <a:solidFill>
              <a:srgbClr val="0070C0"/>
            </a:solidFill>
          </a:ln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n-US" b="1" u="sng" dirty="0"/>
              <a:t>Main Objective</a:t>
            </a:r>
          </a:p>
          <a:p>
            <a:pPr algn="just"/>
            <a:r>
              <a:rPr lang="en-US" dirty="0"/>
              <a:t>To build and evaluate a multilingual sentiment analysis model that classifies African-language tweets into positive, negative, or neutral sentiment.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b="1" u="sng" dirty="0"/>
              <a:t>Specific Objectives</a:t>
            </a:r>
          </a:p>
          <a:p>
            <a:pPr algn="just"/>
            <a:r>
              <a:rPr lang="en-US" b="1" dirty="0"/>
              <a:t>Explore the dataset: </a:t>
            </a:r>
            <a:r>
              <a:rPr lang="en-US" dirty="0"/>
              <a:t>Analyze language distribution, tweet length, and sentiment label imbalance.</a:t>
            </a:r>
          </a:p>
          <a:p>
            <a:pPr algn="just"/>
            <a:r>
              <a:rPr lang="en-US" b="1" dirty="0"/>
              <a:t>Preprocess the text: </a:t>
            </a:r>
            <a:r>
              <a:rPr lang="en-US" dirty="0"/>
              <a:t>Clean tweets, remove URLs, normalize slang, and tokenize using </a:t>
            </a:r>
            <a:r>
              <a:rPr lang="en-US" dirty="0" err="1"/>
              <a:t>mBERT</a:t>
            </a:r>
            <a:r>
              <a:rPr lang="en-US" dirty="0"/>
              <a:t> or XLM-</a:t>
            </a:r>
            <a:r>
              <a:rPr lang="en-US" dirty="0" err="1"/>
              <a:t>RoBERTa</a:t>
            </a:r>
            <a:r>
              <a:rPr lang="en-US" dirty="0"/>
              <a:t>.</a:t>
            </a:r>
          </a:p>
          <a:p>
            <a:pPr algn="just"/>
            <a:r>
              <a:rPr lang="en-US" b="1" dirty="0"/>
              <a:t>Model Development: </a:t>
            </a:r>
            <a:r>
              <a:rPr lang="en-US" dirty="0"/>
              <a:t>Fine-tune XLM-</a:t>
            </a:r>
            <a:r>
              <a:rPr lang="en-US" dirty="0" err="1"/>
              <a:t>RoBERTa</a:t>
            </a:r>
            <a:r>
              <a:rPr lang="en-US" dirty="0"/>
              <a:t> for 3-class sentiment classification and compare with an LSTM baseline.</a:t>
            </a:r>
          </a:p>
          <a:p>
            <a:pPr algn="just"/>
            <a:r>
              <a:rPr lang="en-US" b="1" dirty="0"/>
              <a:t>Model Training: </a:t>
            </a:r>
            <a:r>
              <a:rPr lang="en-US" dirty="0"/>
              <a:t>Use early stopping and gradient clipping for 3–5 epochs to prevent overfitting.</a:t>
            </a:r>
          </a:p>
          <a:p>
            <a:pPr algn="just"/>
            <a:r>
              <a:rPr lang="en-US" b="1" dirty="0"/>
              <a:t>Evaluation: </a:t>
            </a:r>
            <a:r>
              <a:rPr lang="en-US" dirty="0"/>
              <a:t>Measure Accuracy, Macro-F1, ROC-AUC, and produce a confusion matrix. Include example predictions and attention visualization.</a:t>
            </a:r>
          </a:p>
          <a:p>
            <a:pPr algn="just"/>
            <a:r>
              <a:rPr lang="en-US" b="1" dirty="0"/>
              <a:t>Ablation Studies: </a:t>
            </a:r>
            <a:r>
              <a:rPr lang="en-US" dirty="0"/>
              <a:t>Vary batch size, learning rate, and sequence length to observe performance changes.</a:t>
            </a:r>
          </a:p>
          <a:p>
            <a:pPr algn="just"/>
            <a:r>
              <a:rPr lang="en-US" b="1" dirty="0"/>
              <a:t>Cross-Lingual Testing: </a:t>
            </a:r>
            <a:r>
              <a:rPr lang="en-US" dirty="0"/>
              <a:t>Train on one language (e.g., Swahili) - test on another (e.g., Amharic) to assess the model’s multilingual transfer ability.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FB74A-A2DB-AD9B-0171-B91069513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65DE3-AB2B-8F0E-4FCA-3938D4E8B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629" y="385270"/>
            <a:ext cx="8229600" cy="518244"/>
          </a:xfrm>
        </p:spPr>
        <p:txBody>
          <a:bodyPr>
            <a:normAutofit fontScale="90000"/>
          </a:bodyPr>
          <a:lstStyle/>
          <a:p>
            <a:pPr algn="l"/>
            <a:r>
              <a:rPr lang="en-US" sz="3500" b="1" dirty="0">
                <a:solidFill>
                  <a:srgbClr val="0070C0"/>
                </a:solidFill>
              </a:rPr>
              <a:t>Real-Life Applicability</a:t>
            </a:r>
            <a:endParaRPr sz="3500" b="1" dirty="0">
              <a:solidFill>
                <a:srgbClr val="0070C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C85DE3-4787-250C-0D65-5838F0E60F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629" y="1150710"/>
            <a:ext cx="11038114" cy="5184776"/>
          </a:xfrm>
          <a:ln>
            <a:solidFill>
              <a:srgbClr val="0070C0"/>
            </a:solidFill>
          </a:ln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n-US" b="1" dirty="0"/>
              <a:t>1. Social Media Monitoring</a:t>
            </a:r>
          </a:p>
          <a:p>
            <a:pPr marL="358775" indent="0" algn="just">
              <a:buNone/>
            </a:pPr>
            <a:r>
              <a:rPr lang="en-US" sz="2900" dirty="0"/>
              <a:t>Governments, NGOs, and research institutions can track public mood on elections, health, crises, and social issues using multilingual sentiment trends. </a:t>
            </a:r>
          </a:p>
          <a:p>
            <a:pPr marL="0" indent="0" algn="just">
              <a:buNone/>
            </a:pPr>
            <a:r>
              <a:rPr lang="en-US" b="1" dirty="0"/>
              <a:t>2. Customer &amp; Brand Analysis</a:t>
            </a:r>
          </a:p>
          <a:p>
            <a:pPr marL="358775" indent="0" algn="just">
              <a:buNone/>
            </a:pPr>
            <a:r>
              <a:rPr lang="en-US" sz="2900" dirty="0"/>
              <a:t>Businesses can monitor consumer reactions across languages to improve products and services.</a:t>
            </a:r>
          </a:p>
          <a:p>
            <a:pPr marL="0" indent="0" algn="just">
              <a:buNone/>
            </a:pPr>
            <a:r>
              <a:rPr lang="en-US" b="1" dirty="0"/>
              <a:t>3. Hate Speech &amp; Online Safety</a:t>
            </a:r>
          </a:p>
          <a:p>
            <a:pPr marL="358775" indent="0" algn="just">
              <a:buNone/>
            </a:pPr>
            <a:r>
              <a:rPr lang="en-US" dirty="0"/>
              <a:t>Sentiment analysis is a key component in detecting negative or harmful content, especially in multilingual online spaces.</a:t>
            </a:r>
          </a:p>
          <a:p>
            <a:pPr marL="0" indent="0" algn="just">
              <a:buNone/>
            </a:pPr>
            <a:r>
              <a:rPr lang="en-US" b="1" dirty="0"/>
              <a:t>4. Policy &amp; Public Opinion Research</a:t>
            </a:r>
          </a:p>
          <a:p>
            <a:pPr marL="358775" indent="0" algn="just">
              <a:buNone/>
            </a:pPr>
            <a:r>
              <a:rPr lang="en-US" sz="2900" dirty="0"/>
              <a:t>Analysts can understand public attitudes in African countries/languages that are often ignored due to lack of datasets.</a:t>
            </a:r>
          </a:p>
          <a:p>
            <a:pPr marL="0" indent="0" algn="just">
              <a:buNone/>
            </a:pPr>
            <a:r>
              <a:rPr lang="en-US" b="1" dirty="0"/>
              <a:t>5. Enhancing African NLP Tools</a:t>
            </a:r>
          </a:p>
          <a:p>
            <a:pPr marL="358775" indent="0" algn="just">
              <a:buNone/>
            </a:pPr>
            <a:r>
              <a:rPr lang="en-US" sz="2900" dirty="0" err="1"/>
              <a:t>AfriSenti</a:t>
            </a:r>
            <a:r>
              <a:rPr lang="en-US" sz="2900" dirty="0"/>
              <a:t> supports the development of digital tools for African languages, promoting inclusive and equitable AI technology</a:t>
            </a:r>
          </a:p>
          <a:p>
            <a:pPr marL="0" indent="0" algn="just">
              <a:buNone/>
            </a:pPr>
            <a:r>
              <a:rPr lang="en-US" b="1" dirty="0"/>
              <a:t>6. Cross-Lingual AI Applications</a:t>
            </a:r>
          </a:p>
          <a:p>
            <a:pPr marL="358775" indent="0" algn="just">
              <a:buNone/>
            </a:pPr>
            <a:r>
              <a:rPr lang="en-US" sz="2900" dirty="0"/>
              <a:t>Your cross-lingual experiments contribute to systems that work even when certain languages lack large datasets.</a:t>
            </a:r>
            <a:endParaRPr lang="en-UG" sz="2900" dirty="0"/>
          </a:p>
        </p:txBody>
      </p:sp>
    </p:spTree>
    <p:extLst>
      <p:ext uri="{BB962C8B-B14F-4D97-AF65-F5344CB8AC3E}">
        <p14:creationId xmlns:p14="http://schemas.microsoft.com/office/powerpoint/2010/main" val="2541141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65B5C-38C2-74C7-0F8F-7FB306EB4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5755B-493E-405A-3A04-6D5C0C29A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569" y="484866"/>
            <a:ext cx="10836624" cy="473075"/>
          </a:xfrm>
        </p:spPr>
        <p:txBody>
          <a:bodyPr>
            <a:normAutofit fontScale="90000"/>
          </a:bodyPr>
          <a:lstStyle/>
          <a:p>
            <a:r>
              <a:rPr lang="en-US" sz="3000" b="1" dirty="0">
                <a:solidFill>
                  <a:srgbClr val="0070C0"/>
                </a:solidFill>
              </a:rPr>
              <a:t>Loading </a:t>
            </a:r>
            <a:r>
              <a:rPr lang="en-US" sz="3000" b="1" dirty="0" err="1">
                <a:solidFill>
                  <a:srgbClr val="0070C0"/>
                </a:solidFill>
              </a:rPr>
              <a:t>AfriSenti</a:t>
            </a:r>
            <a:r>
              <a:rPr lang="en-US" sz="3000" b="1" dirty="0">
                <a:solidFill>
                  <a:srgbClr val="0070C0"/>
                </a:solidFill>
              </a:rPr>
              <a:t>-Twitter Dataset: Listing Available Language Configurations</a:t>
            </a:r>
            <a:endParaRPr lang="en-UG" sz="3000" b="1" dirty="0">
              <a:solidFill>
                <a:srgbClr val="0070C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176995-305C-D199-39CF-EFAAAAB0B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543" y="1197429"/>
            <a:ext cx="10376126" cy="47026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DFB0DC0-DC38-D354-888B-148C91B304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0109" y="2708441"/>
            <a:ext cx="3829372" cy="372651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44197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C50D-3283-6CEB-2559-049BE89F7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454" y="267152"/>
            <a:ext cx="10831286" cy="59281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Loading the </a:t>
            </a:r>
            <a:r>
              <a:rPr lang="en-US" b="1" dirty="0" err="1">
                <a:solidFill>
                  <a:srgbClr val="0070C0"/>
                </a:solidFill>
              </a:rPr>
              <a:t>AfriSenti</a:t>
            </a:r>
            <a:r>
              <a:rPr lang="en-US" b="1" dirty="0">
                <a:solidFill>
                  <a:srgbClr val="0070C0"/>
                </a:solidFill>
              </a:rPr>
              <a:t> Twitter Sentiment dataset</a:t>
            </a:r>
            <a:endParaRPr lang="en-UG" b="1" dirty="0">
              <a:solidFill>
                <a:srgbClr val="0070C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514B8AF-DEA8-DEB1-9B7E-576C60F29E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330" y="925286"/>
            <a:ext cx="6755670" cy="56204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0BAA961-932B-EF44-53C4-717632AFB2A2}"/>
              </a:ext>
            </a:extLst>
          </p:cNvPr>
          <p:cNvSpPr txBox="1"/>
          <p:nvPr/>
        </p:nvSpPr>
        <p:spPr>
          <a:xfrm>
            <a:off x="7903027" y="2252790"/>
            <a:ext cx="336368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sz="2000" dirty="0"/>
              <a:t>Collect one example from each language</a:t>
            </a:r>
          </a:p>
          <a:p>
            <a:endParaRPr lang="en-UG" sz="2000" dirty="0"/>
          </a:p>
          <a:p>
            <a:r>
              <a:rPr lang="en-UG" sz="2000" dirty="0"/>
              <a:t>Label mapping: 0=negative, 1=neutral, 2=positive</a:t>
            </a:r>
          </a:p>
          <a:p>
            <a:endParaRPr lang="en-UG" sz="2000" dirty="0"/>
          </a:p>
          <a:p>
            <a:r>
              <a:rPr lang="en-UG" sz="2000" dirty="0"/>
              <a:t>Truncate tweet to 50 characters for better display</a:t>
            </a:r>
          </a:p>
        </p:txBody>
      </p:sp>
    </p:spTree>
    <p:extLst>
      <p:ext uri="{BB962C8B-B14F-4D97-AF65-F5344CB8AC3E}">
        <p14:creationId xmlns:p14="http://schemas.microsoft.com/office/powerpoint/2010/main" val="2857303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DB561-72CA-A5C9-6818-9CC64AA20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C2E17-17DE-3299-116F-C58A891F3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340" y="386894"/>
            <a:ext cx="10831286" cy="592818"/>
          </a:xfrm>
        </p:spPr>
        <p:txBody>
          <a:bodyPr>
            <a:normAutofit/>
          </a:bodyPr>
          <a:lstStyle/>
          <a:p>
            <a:r>
              <a:rPr lang="en-US" sz="3000" b="1" dirty="0" err="1">
                <a:solidFill>
                  <a:srgbClr val="0070C0"/>
                </a:solidFill>
              </a:rPr>
              <a:t>AfriSenti</a:t>
            </a:r>
            <a:r>
              <a:rPr lang="en-US" sz="3000" b="1" dirty="0">
                <a:solidFill>
                  <a:srgbClr val="0070C0"/>
                </a:solidFill>
              </a:rPr>
              <a:t> Twitter dataset: Total tweets across all languages</a:t>
            </a:r>
            <a:endParaRPr lang="en-UG" sz="3000" b="1" dirty="0">
              <a:solidFill>
                <a:srgbClr val="0070C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F59A01-646E-0A52-67CF-8D1B05D9D1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340" y="1349831"/>
            <a:ext cx="10987162" cy="4474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375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6B034-56DA-D3B6-26EC-B547D8A75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F18CB-DCA8-42A7-2AB8-8058584B4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340" y="321578"/>
            <a:ext cx="10831286" cy="364220"/>
          </a:xfrm>
        </p:spPr>
        <p:txBody>
          <a:bodyPr>
            <a:normAutofit fontScale="90000"/>
          </a:bodyPr>
          <a:lstStyle/>
          <a:p>
            <a:r>
              <a:rPr lang="en-US" sz="3000" b="1" dirty="0">
                <a:solidFill>
                  <a:srgbClr val="0070C0"/>
                </a:solidFill>
              </a:rPr>
              <a:t>Initial Data Exploration: Load train data from all languages</a:t>
            </a:r>
            <a:endParaRPr lang="en-UG" sz="3000" b="1" dirty="0">
              <a:solidFill>
                <a:srgbClr val="0070C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76626B-B581-AC7D-1571-68C69D28FB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059" y="881746"/>
            <a:ext cx="7956598" cy="5698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737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E4659-726E-2803-52E7-9EF6B8E75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83737-60D0-BC64-C886-8027B3B98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340" y="408666"/>
            <a:ext cx="10831286" cy="364220"/>
          </a:xfrm>
        </p:spPr>
        <p:txBody>
          <a:bodyPr>
            <a:normAutofit fontScale="90000"/>
          </a:bodyPr>
          <a:lstStyle/>
          <a:p>
            <a:r>
              <a:rPr lang="en-US" sz="3000" b="1" dirty="0">
                <a:solidFill>
                  <a:srgbClr val="0070C0"/>
                </a:solidFill>
              </a:rPr>
              <a:t>Initial Data Exploration: Language Distribution on the Train Set</a:t>
            </a:r>
            <a:endParaRPr lang="en-UG" sz="3000" b="1" dirty="0">
              <a:solidFill>
                <a:srgbClr val="0070C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E9C9AE-C42E-A7B9-7CEC-AC16F1135E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40" y="1062657"/>
            <a:ext cx="10872238" cy="5385827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1137D6F-D587-BA19-D72B-9EB311B60F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1707691"/>
              </p:ext>
            </p:extLst>
          </p:nvPr>
        </p:nvGraphicFramePr>
        <p:xfrm>
          <a:off x="9748160" y="1498033"/>
          <a:ext cx="1654780" cy="3465852"/>
        </p:xfrm>
        <a:graphic>
          <a:graphicData uri="http://schemas.openxmlformats.org/drawingml/2006/table">
            <a:tbl>
              <a:tblPr/>
              <a:tblGrid>
                <a:gridCol w="827390">
                  <a:extLst>
                    <a:ext uri="{9D8B030D-6E8A-4147-A177-3AD203B41FA5}">
                      <a16:colId xmlns:a16="http://schemas.microsoft.com/office/drawing/2014/main" val="585296710"/>
                    </a:ext>
                  </a:extLst>
                </a:gridCol>
                <a:gridCol w="827390">
                  <a:extLst>
                    <a:ext uri="{9D8B030D-6E8A-4147-A177-3AD203B41FA5}">
                      <a16:colId xmlns:a16="http://schemas.microsoft.com/office/drawing/2014/main" val="2986521204"/>
                    </a:ext>
                  </a:extLst>
                </a:gridCol>
              </a:tblGrid>
              <a:tr h="26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lang</a:t>
                      </a:r>
                    </a:p>
                  </a:txBody>
                  <a:tcPr marL="9193" marR="9193" marT="91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counts</a:t>
                      </a:r>
                    </a:p>
                  </a:txBody>
                  <a:tcPr marL="9193" marR="9193" marT="91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0941029"/>
                  </a:ext>
                </a:extLst>
              </a:tr>
              <a:tr h="26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hau</a:t>
                      </a:r>
                    </a:p>
                  </a:txBody>
                  <a:tcPr marL="9193" marR="9193" marT="91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14,172 </a:t>
                      </a:r>
                    </a:p>
                  </a:txBody>
                  <a:tcPr marL="9193" marR="9193" marT="91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9550848"/>
                  </a:ext>
                </a:extLst>
              </a:tr>
              <a:tr h="26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ibo</a:t>
                      </a:r>
                    </a:p>
                  </a:txBody>
                  <a:tcPr marL="9193" marR="9193" marT="91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10,192 </a:t>
                      </a:r>
                    </a:p>
                  </a:txBody>
                  <a:tcPr marL="9193" marR="9193" marT="91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2557249"/>
                  </a:ext>
                </a:extLst>
              </a:tr>
              <a:tr h="26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yor</a:t>
                      </a:r>
                    </a:p>
                  </a:txBody>
                  <a:tcPr marL="9193" marR="9193" marT="91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8,522 </a:t>
                      </a:r>
                    </a:p>
                  </a:txBody>
                  <a:tcPr marL="9193" marR="9193" marT="91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7165732"/>
                  </a:ext>
                </a:extLst>
              </a:tr>
              <a:tr h="26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amh</a:t>
                      </a:r>
                    </a:p>
                  </a:txBody>
                  <a:tcPr marL="9193" marR="9193" marT="91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5,984 </a:t>
                      </a:r>
                    </a:p>
                  </a:txBody>
                  <a:tcPr marL="9193" marR="9193" marT="91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016491"/>
                  </a:ext>
                </a:extLst>
              </a:tr>
              <a:tr h="26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ary</a:t>
                      </a:r>
                    </a:p>
                  </a:txBody>
                  <a:tcPr marL="9193" marR="9193" marT="91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5,583 </a:t>
                      </a:r>
                    </a:p>
                  </a:txBody>
                  <a:tcPr marL="9193" marR="9193" marT="91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7750602"/>
                  </a:ext>
                </a:extLst>
              </a:tr>
              <a:tr h="26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pcm</a:t>
                      </a:r>
                    </a:p>
                  </a:txBody>
                  <a:tcPr marL="9193" marR="9193" marT="91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5,121 </a:t>
                      </a:r>
                    </a:p>
                  </a:txBody>
                  <a:tcPr marL="9193" marR="9193" marT="91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5298603"/>
                  </a:ext>
                </a:extLst>
              </a:tr>
              <a:tr h="26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twi</a:t>
                      </a:r>
                    </a:p>
                  </a:txBody>
                  <a:tcPr marL="9193" marR="9193" marT="91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3,481 </a:t>
                      </a:r>
                    </a:p>
                  </a:txBody>
                  <a:tcPr marL="9193" marR="9193" marT="91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3684857"/>
                  </a:ext>
                </a:extLst>
              </a:tr>
              <a:tr h="26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kin</a:t>
                      </a:r>
                    </a:p>
                  </a:txBody>
                  <a:tcPr marL="9193" marR="9193" marT="91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3,302 </a:t>
                      </a:r>
                    </a:p>
                  </a:txBody>
                  <a:tcPr marL="9193" marR="9193" marT="91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7065294"/>
                  </a:ext>
                </a:extLst>
              </a:tr>
              <a:tr h="26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por</a:t>
                      </a:r>
                    </a:p>
                  </a:txBody>
                  <a:tcPr marL="9193" marR="9193" marT="91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3,063 </a:t>
                      </a:r>
                    </a:p>
                  </a:txBody>
                  <a:tcPr marL="9193" marR="9193" marT="91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6634591"/>
                  </a:ext>
                </a:extLst>
              </a:tr>
              <a:tr h="26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swa</a:t>
                      </a:r>
                    </a:p>
                  </a:txBody>
                  <a:tcPr marL="9193" marR="9193" marT="91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G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1,810 </a:t>
                      </a:r>
                    </a:p>
                  </a:txBody>
                  <a:tcPr marL="9193" marR="9193" marT="91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5687057"/>
                  </a:ext>
                </a:extLst>
              </a:tr>
              <a:tr h="26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arq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193" marR="9193" marT="91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G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1,651 </a:t>
                      </a:r>
                    </a:p>
                  </a:txBody>
                  <a:tcPr marL="9193" marR="9193" marT="91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3754520"/>
                  </a:ext>
                </a:extLst>
              </a:tr>
              <a:tr h="2666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tso</a:t>
                      </a:r>
                    </a:p>
                  </a:txBody>
                  <a:tcPr marL="9193" marR="9193" marT="91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G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804 </a:t>
                      </a:r>
                    </a:p>
                  </a:txBody>
                  <a:tcPr marL="9193" marR="9193" marT="91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03220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2181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7B364-FAFC-F5CE-E2E1-F64201716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F3ED6-53C7-0C3C-720F-252ECE89F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374" y="364348"/>
            <a:ext cx="10831286" cy="364220"/>
          </a:xfrm>
        </p:spPr>
        <p:txBody>
          <a:bodyPr>
            <a:normAutofit fontScale="90000"/>
          </a:bodyPr>
          <a:lstStyle/>
          <a:p>
            <a:r>
              <a:rPr lang="en-US" sz="3000" b="1" dirty="0">
                <a:solidFill>
                  <a:srgbClr val="0070C0"/>
                </a:solidFill>
              </a:rPr>
              <a:t>Initial Data Exploration: Text length Distribution the Train Set</a:t>
            </a:r>
            <a:endParaRPr lang="en-UG" sz="3000" b="1" dirty="0">
              <a:solidFill>
                <a:srgbClr val="0070C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05C356-4262-A8CA-1C37-98BAAEF22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373" y="916571"/>
            <a:ext cx="8217623" cy="49072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2942FAD-F18F-31B7-1BA8-DCC0C1E318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8953" y="1372151"/>
            <a:ext cx="3112468" cy="360262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0BCC21E-CC49-D8EF-7348-68F2E7C95C38}"/>
              </a:ext>
            </a:extLst>
          </p:cNvPr>
          <p:cNvSpPr txBox="1"/>
          <p:nvPr/>
        </p:nvSpPr>
        <p:spPr>
          <a:xfrm>
            <a:off x="484414" y="6008598"/>
            <a:ext cx="11223171" cy="584775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G" sz="1600" dirty="0"/>
              <a:t>The training tweets are mostly short (median 73 characters), with a right-skewed distribution and a few very long outliers.</a:t>
            </a:r>
            <a:endParaRPr lang="en-US" sz="1600" dirty="0"/>
          </a:p>
          <a:p>
            <a:r>
              <a:rPr lang="en-US" sz="1600" dirty="0"/>
              <a:t>The data is concise and typical of Twitter usage, making it suitable for transformer models with moderate sequence lengths</a:t>
            </a:r>
          </a:p>
        </p:txBody>
      </p:sp>
    </p:spTree>
    <p:extLst>
      <p:ext uri="{BB962C8B-B14F-4D97-AF65-F5344CB8AC3E}">
        <p14:creationId xmlns:p14="http://schemas.microsoft.com/office/powerpoint/2010/main" val="19113844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C5D85-6585-073E-AC81-064B90826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3E3B3-3F88-A073-C77B-23F1AB470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340" y="267148"/>
            <a:ext cx="10831286" cy="364220"/>
          </a:xfrm>
        </p:spPr>
        <p:txBody>
          <a:bodyPr>
            <a:normAutofit fontScale="90000"/>
          </a:bodyPr>
          <a:lstStyle/>
          <a:p>
            <a:r>
              <a:rPr lang="en-US" sz="3000" b="1" dirty="0">
                <a:solidFill>
                  <a:srgbClr val="0070C0"/>
                </a:solidFill>
              </a:rPr>
              <a:t>Initial Data Exploration: Overall Label Distribution</a:t>
            </a:r>
            <a:endParaRPr lang="en-UG" sz="3000" b="1" dirty="0">
              <a:solidFill>
                <a:srgbClr val="0070C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A132D8-E2FB-9508-F139-6780F9C201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01" y="905685"/>
            <a:ext cx="6851570" cy="51169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9A129BE-1E2D-B32B-87D7-F6AEE69CD7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0229" y="1545006"/>
            <a:ext cx="3691795" cy="347302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A294983-38D0-8329-942E-12A71BE62D34}"/>
              </a:ext>
            </a:extLst>
          </p:cNvPr>
          <p:cNvSpPr txBox="1"/>
          <p:nvPr/>
        </p:nvSpPr>
        <p:spPr>
          <a:xfrm>
            <a:off x="561601" y="6047624"/>
            <a:ext cx="10901052" cy="64633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G" dirty="0"/>
              <a:t>The train set shows a well-balanced label distribution with 36% neutral, 33% negative, and 32% positive tweets. The</a:t>
            </a:r>
            <a:r>
              <a:rPr lang="en-US" dirty="0"/>
              <a:t>s observed</a:t>
            </a:r>
            <a:r>
              <a:rPr lang="en-UG" dirty="0"/>
              <a:t> balance supports stable model training without the need for class reweighting.</a:t>
            </a:r>
          </a:p>
        </p:txBody>
      </p:sp>
    </p:spTree>
    <p:extLst>
      <p:ext uri="{BB962C8B-B14F-4D97-AF65-F5344CB8AC3E}">
        <p14:creationId xmlns:p14="http://schemas.microsoft.com/office/powerpoint/2010/main" val="21830579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A0527-A5E3-CB4F-1EC6-71FB1FB6D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8D09F-221E-ED6E-F55B-D866F208E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344" y="364348"/>
            <a:ext cx="10831286" cy="364220"/>
          </a:xfrm>
        </p:spPr>
        <p:txBody>
          <a:bodyPr>
            <a:normAutofit fontScale="90000"/>
          </a:bodyPr>
          <a:lstStyle/>
          <a:p>
            <a:r>
              <a:rPr lang="en-US" sz="3000" b="1" dirty="0">
                <a:solidFill>
                  <a:srgbClr val="0070C0"/>
                </a:solidFill>
              </a:rPr>
              <a:t>Initial Data Exploration: Label Distribution by Language</a:t>
            </a:r>
            <a:endParaRPr lang="en-UG" sz="3000" b="1" dirty="0">
              <a:solidFill>
                <a:srgbClr val="0070C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06A4B0-B0E6-D8BF-7C16-5325BD06F9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59" y="1127754"/>
            <a:ext cx="6491512" cy="4881617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AB1DCF6-19AE-0E13-A768-5980FFE33B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0490" y="905306"/>
            <a:ext cx="3813292" cy="331835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2ECFE9A-56D0-F6CA-188C-77EDB044E36D}"/>
              </a:ext>
            </a:extLst>
          </p:cNvPr>
          <p:cNvSpPr txBox="1"/>
          <p:nvPr/>
        </p:nvSpPr>
        <p:spPr>
          <a:xfrm>
            <a:off x="7148134" y="4387713"/>
            <a:ext cx="453586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1) </a:t>
            </a:r>
            <a:r>
              <a:rPr lang="en-UG" sz="1600" dirty="0"/>
              <a:t>Sentiment distribution varies significantly across languages</a:t>
            </a: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G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2) S</a:t>
            </a:r>
            <a:r>
              <a:rPr lang="en-UG" sz="1600" dirty="0"/>
              <a:t>home languages</a:t>
            </a:r>
            <a:r>
              <a:rPr lang="en-US" sz="1600" dirty="0"/>
              <a:t> like (Hausa, Igbo, and Yoruba)</a:t>
            </a:r>
            <a:r>
              <a:rPr lang="en-UG" sz="1600" dirty="0"/>
              <a:t> are balanced, others</a:t>
            </a:r>
            <a:r>
              <a:rPr lang="en-US" sz="1600" dirty="0"/>
              <a:t> (e.g., Nigerian Pidgin and Twi)</a:t>
            </a:r>
            <a:r>
              <a:rPr lang="en-UG" sz="1600" dirty="0"/>
              <a:t> show extreme skewness in one sentiment class.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F76781-2179-21CA-156D-4ABF047E31D4}"/>
              </a:ext>
            </a:extLst>
          </p:cNvPr>
          <p:cNvSpPr txBox="1"/>
          <p:nvPr/>
        </p:nvSpPr>
        <p:spPr>
          <a:xfrm>
            <a:off x="184192" y="6226830"/>
            <a:ext cx="111595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3) P</a:t>
            </a:r>
            <a:r>
              <a:rPr lang="en-UG" sz="1600" dirty="0" err="1"/>
              <a:t>otential</a:t>
            </a:r>
            <a:r>
              <a:rPr lang="en-UG" sz="1600" dirty="0"/>
              <a:t> challenges for model training and emphasizes the importance of multilingual transfer and careful evaluation</a:t>
            </a:r>
          </a:p>
        </p:txBody>
      </p:sp>
    </p:spTree>
    <p:extLst>
      <p:ext uri="{BB962C8B-B14F-4D97-AF65-F5344CB8AC3E}">
        <p14:creationId xmlns:p14="http://schemas.microsoft.com/office/powerpoint/2010/main" val="461359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F09D1-2D8A-6EBC-39A4-91A1EA5FB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AD0A3-CB06-3824-37C9-8EB1C4D6A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374" y="364348"/>
            <a:ext cx="10831286" cy="364220"/>
          </a:xfrm>
        </p:spPr>
        <p:txBody>
          <a:bodyPr>
            <a:normAutofit fontScale="90000"/>
          </a:bodyPr>
          <a:lstStyle/>
          <a:p>
            <a:r>
              <a:rPr lang="en-US" sz="3000" b="1" dirty="0">
                <a:solidFill>
                  <a:srgbClr val="0070C0"/>
                </a:solidFill>
              </a:rPr>
              <a:t>Preprocess text using multilingual tokenizers (</a:t>
            </a:r>
            <a:r>
              <a:rPr lang="en-US" sz="3000" b="1" dirty="0" err="1">
                <a:solidFill>
                  <a:srgbClr val="0070C0"/>
                </a:solidFill>
              </a:rPr>
              <a:t>mBERT</a:t>
            </a:r>
            <a:r>
              <a:rPr lang="en-US" sz="3000" b="1" dirty="0">
                <a:solidFill>
                  <a:srgbClr val="0070C0"/>
                </a:solidFill>
              </a:rPr>
              <a:t>, XLM-</a:t>
            </a:r>
            <a:r>
              <a:rPr lang="en-US" sz="3000" b="1" dirty="0" err="1">
                <a:solidFill>
                  <a:srgbClr val="0070C0"/>
                </a:solidFill>
              </a:rPr>
              <a:t>RoBERTa</a:t>
            </a:r>
            <a:r>
              <a:rPr lang="en-US" sz="3000" b="1" dirty="0">
                <a:solidFill>
                  <a:srgbClr val="0070C0"/>
                </a:solidFill>
              </a:rPr>
              <a:t>)</a:t>
            </a:r>
            <a:endParaRPr lang="en-UG" sz="3000" b="1" dirty="0">
              <a:solidFill>
                <a:srgbClr val="0070C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428F89-2EF2-F2B2-9F69-E03154148C2E}"/>
              </a:ext>
            </a:extLst>
          </p:cNvPr>
          <p:cNvSpPr txBox="1"/>
          <p:nvPr/>
        </p:nvSpPr>
        <p:spPr>
          <a:xfrm>
            <a:off x="740229" y="99960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Load train, validation, and test datasets from all languages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F0997D9-EB19-AE32-1F7B-F2E8FE7C2A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456" y="1428112"/>
            <a:ext cx="5404943" cy="127402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2C382AA-4AEC-BEDE-0FCD-4AB6ACDFC078}"/>
              </a:ext>
            </a:extLst>
          </p:cNvPr>
          <p:cNvSpPr txBox="1"/>
          <p:nvPr/>
        </p:nvSpPr>
        <p:spPr>
          <a:xfrm>
            <a:off x="7521857" y="5027972"/>
            <a:ext cx="28182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G" dirty="0"/>
              <a:t>URLs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G" dirty="0"/>
              <a:t>Mentions &lt;USER&gt;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G" dirty="0"/>
              <a:t>Normalize whitespace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G" dirty="0"/>
              <a:t>Remove # but keep word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26FFECA-B3ED-25FA-C078-6E2F61101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456" y="3495993"/>
            <a:ext cx="8625689" cy="147732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261F08B-FAAA-95C6-D02F-B55796536AF0}"/>
              </a:ext>
            </a:extLst>
          </p:cNvPr>
          <p:cNvSpPr txBox="1"/>
          <p:nvPr/>
        </p:nvSpPr>
        <p:spPr>
          <a:xfrm>
            <a:off x="749047" y="3037114"/>
            <a:ext cx="67728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dirty="0"/>
              <a:t>Text preprocessing. Handled emojis, URLs, and slang normalization.</a:t>
            </a:r>
          </a:p>
        </p:txBody>
      </p:sp>
    </p:spTree>
    <p:extLst>
      <p:ext uri="{BB962C8B-B14F-4D97-AF65-F5344CB8AC3E}">
        <p14:creationId xmlns:p14="http://schemas.microsoft.com/office/powerpoint/2010/main" val="33817914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46378-BEB7-B50E-88F5-F24C88AF0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FA7B4-B2CA-5AD0-60EF-8178B11F1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374" y="364348"/>
            <a:ext cx="10831286" cy="364220"/>
          </a:xfrm>
        </p:spPr>
        <p:txBody>
          <a:bodyPr>
            <a:normAutofit fontScale="90000"/>
          </a:bodyPr>
          <a:lstStyle/>
          <a:p>
            <a:r>
              <a:rPr lang="en-US" sz="3000" b="1" dirty="0">
                <a:solidFill>
                  <a:srgbClr val="0070C0"/>
                </a:solidFill>
              </a:rPr>
              <a:t>Preprocess text: Label mapping &amp; tokenizing Tweets Using XLM-</a:t>
            </a:r>
            <a:r>
              <a:rPr lang="en-US" sz="3000" b="1" dirty="0" err="1">
                <a:solidFill>
                  <a:srgbClr val="0070C0"/>
                </a:solidFill>
              </a:rPr>
              <a:t>RoBERTa</a:t>
            </a:r>
            <a:endParaRPr lang="en-UG" sz="3000" b="1" dirty="0">
              <a:solidFill>
                <a:srgbClr val="0070C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1D526E-C7DA-185B-C7EF-B4BC2850E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81" y="889760"/>
            <a:ext cx="6638305" cy="26172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3F74FF-26D6-9A82-E810-1A57E2C61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1295" y="3626758"/>
            <a:ext cx="6170219" cy="28643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55F567A-2830-84CF-B97F-F8372AE6737D}"/>
              </a:ext>
            </a:extLst>
          </p:cNvPr>
          <p:cNvSpPr txBox="1"/>
          <p:nvPr/>
        </p:nvSpPr>
        <p:spPr>
          <a:xfrm>
            <a:off x="2383972" y="4597263"/>
            <a:ext cx="278674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Tokenizing Tweets </a:t>
            </a:r>
          </a:p>
          <a:p>
            <a:endParaRPr lang="en-US" b="1" dirty="0"/>
          </a:p>
          <a:p>
            <a:r>
              <a:rPr lang="en-US" dirty="0"/>
              <a:t>Using</a:t>
            </a:r>
            <a:r>
              <a:rPr lang="en-US" b="1" dirty="0"/>
              <a:t> </a:t>
            </a:r>
            <a:r>
              <a:rPr lang="en-UG" dirty="0"/>
              <a:t>multilingual tokenizer </a:t>
            </a:r>
            <a:endParaRPr lang="en-US" dirty="0"/>
          </a:p>
          <a:p>
            <a:r>
              <a:rPr lang="en-UG" dirty="0"/>
              <a:t>XLM-</a:t>
            </a:r>
            <a:r>
              <a:rPr lang="en-UG" dirty="0" err="1"/>
              <a:t>RoBERTa</a:t>
            </a:r>
            <a:endParaRPr lang="en-UG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02FC80-BBE2-620E-3C22-497128BE2600}"/>
              </a:ext>
            </a:extLst>
          </p:cNvPr>
          <p:cNvSpPr txBox="1"/>
          <p:nvPr/>
        </p:nvSpPr>
        <p:spPr>
          <a:xfrm>
            <a:off x="7674428" y="1301821"/>
            <a:ext cx="36140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b="1" dirty="0"/>
              <a:t>Label mapping: </a:t>
            </a:r>
          </a:p>
          <a:p>
            <a:endParaRPr lang="en-UG" dirty="0"/>
          </a:p>
          <a:p>
            <a:r>
              <a:rPr lang="en-UG" dirty="0"/>
              <a:t>string -&gt; int</a:t>
            </a:r>
            <a:endParaRPr lang="en-US" dirty="0"/>
          </a:p>
          <a:p>
            <a:r>
              <a:rPr lang="en-UG" dirty="0"/>
              <a:t> (0=negative, 1=neutral, 2=positive)</a:t>
            </a:r>
          </a:p>
        </p:txBody>
      </p:sp>
    </p:spTree>
    <p:extLst>
      <p:ext uri="{BB962C8B-B14F-4D97-AF65-F5344CB8AC3E}">
        <p14:creationId xmlns:p14="http://schemas.microsoft.com/office/powerpoint/2010/main" val="39061536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AC488-73CE-C09D-D6F6-AFFE70600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0777A-F9C8-C9A2-23EF-4D799213CE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2243" y="440871"/>
            <a:ext cx="10047514" cy="5976257"/>
          </a:xfrm>
        </p:spPr>
        <p:txBody>
          <a:bodyPr>
            <a:noAutofit/>
          </a:bodyPr>
          <a:lstStyle/>
          <a:p>
            <a:pPr marL="457200" lvl="1" indent="0" algn="ctr">
              <a:buNone/>
            </a:pPr>
            <a:endParaRPr lang="en-US" dirty="0"/>
          </a:p>
          <a:p>
            <a:pPr marL="457200" lvl="1" indent="0" algn="ctr">
              <a:buNone/>
            </a:pPr>
            <a:r>
              <a:rPr lang="en-US" sz="6000" dirty="0">
                <a:solidFill>
                  <a:srgbClr val="0070C0"/>
                </a:solidFill>
              </a:rPr>
              <a:t>Modeling</a:t>
            </a:r>
          </a:p>
          <a:p>
            <a:pPr marL="457200" lvl="1" indent="0" algn="ctr">
              <a:buNone/>
            </a:pPr>
            <a:endParaRPr lang="en-US" sz="5000" dirty="0"/>
          </a:p>
          <a:p>
            <a:pPr marL="457200" lvl="1" indent="0" algn="ctr">
              <a:buNone/>
            </a:pPr>
            <a:r>
              <a:rPr lang="en-US" sz="3500" b="1" dirty="0"/>
              <a:t>Fine-tune XLM-</a:t>
            </a:r>
            <a:r>
              <a:rPr lang="en-US" sz="3500" b="1" dirty="0" err="1"/>
              <a:t>RoBERTa</a:t>
            </a:r>
            <a:r>
              <a:rPr lang="en-US" sz="3500" b="1" dirty="0"/>
              <a:t> for 3-class sentiment classification </a:t>
            </a:r>
          </a:p>
          <a:p>
            <a:pPr marL="457200" lvl="1" indent="0" algn="ctr">
              <a:buNone/>
            </a:pPr>
            <a:r>
              <a:rPr lang="en-US" sz="3500" dirty="0"/>
              <a:t>(positive, neutral, negative). </a:t>
            </a:r>
          </a:p>
          <a:p>
            <a:pPr marL="457200" lvl="1" indent="0" algn="ctr">
              <a:buNone/>
            </a:pPr>
            <a:r>
              <a:rPr lang="en-US" sz="3500" dirty="0"/>
              <a:t>Compare with</a:t>
            </a:r>
          </a:p>
          <a:p>
            <a:pPr marL="457200" lvl="1" indent="0" algn="ctr">
              <a:buNone/>
            </a:pPr>
            <a:r>
              <a:rPr lang="en-US" sz="3500" dirty="0"/>
              <a:t> </a:t>
            </a:r>
          </a:p>
          <a:p>
            <a:pPr marL="457200" lvl="1" indent="0" algn="ctr">
              <a:buNone/>
            </a:pPr>
            <a:r>
              <a:rPr lang="en-US" sz="3500" b="1" dirty="0"/>
              <a:t>LSTM baseline Model</a:t>
            </a:r>
          </a:p>
          <a:p>
            <a:pPr marL="457200" lvl="1" indent="0" algn="ctr">
              <a:buNone/>
            </a:pPr>
            <a:endParaRPr sz="5000" dirty="0"/>
          </a:p>
        </p:txBody>
      </p:sp>
    </p:spTree>
    <p:extLst>
      <p:ext uri="{BB962C8B-B14F-4D97-AF65-F5344CB8AC3E}">
        <p14:creationId xmlns:p14="http://schemas.microsoft.com/office/powerpoint/2010/main" val="34658761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E2929-7481-EF61-32D3-97BCFEEA9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7BC1D-B1B5-CED5-F057-DF6B27E7D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137" y="336944"/>
            <a:ext cx="10987405" cy="688171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XLM-</a:t>
            </a:r>
            <a:r>
              <a:rPr lang="en-US" sz="4000" b="1" dirty="0" err="1">
                <a:solidFill>
                  <a:srgbClr val="0070C0"/>
                </a:solidFill>
              </a:rPr>
              <a:t>RoBERTa</a:t>
            </a:r>
            <a:r>
              <a:rPr lang="en-US" sz="4000" b="1" dirty="0">
                <a:solidFill>
                  <a:srgbClr val="0070C0"/>
                </a:solidFill>
              </a:rPr>
              <a:t> Transformer Model</a:t>
            </a:r>
            <a:endParaRPr lang="en-UG" sz="4000" b="1" dirty="0">
              <a:solidFill>
                <a:srgbClr val="0070C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535539-38E7-B090-AF24-BEF74F5DF6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509"/>
          <a:stretch>
            <a:fillRect/>
          </a:stretch>
        </p:blipFill>
        <p:spPr>
          <a:xfrm>
            <a:off x="656786" y="1429273"/>
            <a:ext cx="7365986" cy="34475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79FCB92-200D-16A7-E47D-B94AE1D84A0D}"/>
              </a:ext>
            </a:extLst>
          </p:cNvPr>
          <p:cNvSpPr txBox="1"/>
          <p:nvPr/>
        </p:nvSpPr>
        <p:spPr>
          <a:xfrm>
            <a:off x="8309442" y="2989750"/>
            <a:ext cx="3048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sz="3000" b="1" dirty="0"/>
              <a:t>Total parameters:</a:t>
            </a:r>
            <a:endParaRPr lang="en-UG" sz="3000" dirty="0"/>
          </a:p>
          <a:p>
            <a:r>
              <a:rPr lang="en-UG" sz="3000" dirty="0"/>
              <a:t>278,045,955</a:t>
            </a:r>
          </a:p>
        </p:txBody>
      </p:sp>
    </p:spTree>
    <p:extLst>
      <p:ext uri="{BB962C8B-B14F-4D97-AF65-F5344CB8AC3E}">
        <p14:creationId xmlns:p14="http://schemas.microsoft.com/office/powerpoint/2010/main" val="11685938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61F8C-A6E0-3D94-E53A-36799F3AD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0CE4D-A103-740C-4174-207A52ECF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337" y="343467"/>
            <a:ext cx="10704377" cy="688171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LSTM Baseline Model</a:t>
            </a:r>
            <a:endParaRPr lang="en-UG" sz="4000" b="1" dirty="0">
              <a:solidFill>
                <a:srgbClr val="0070C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ABFE37-1F56-A91E-0CE6-7082AB490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20" y="1113597"/>
            <a:ext cx="6818738" cy="50568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55028ED-D014-AF29-10E1-CB7387E4F454}"/>
              </a:ext>
            </a:extLst>
          </p:cNvPr>
          <p:cNvSpPr txBox="1"/>
          <p:nvPr/>
        </p:nvSpPr>
        <p:spPr>
          <a:xfrm>
            <a:off x="8414658" y="2967335"/>
            <a:ext cx="3048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sz="3000" b="1" dirty="0"/>
              <a:t>Total parameters:</a:t>
            </a:r>
            <a:endParaRPr lang="en-UG" sz="3000" dirty="0"/>
          </a:p>
          <a:p>
            <a:r>
              <a:rPr lang="en-UG" sz="3000" dirty="0"/>
              <a:t>32,265,219</a:t>
            </a:r>
          </a:p>
        </p:txBody>
      </p:sp>
    </p:spTree>
    <p:extLst>
      <p:ext uri="{BB962C8B-B14F-4D97-AF65-F5344CB8AC3E}">
        <p14:creationId xmlns:p14="http://schemas.microsoft.com/office/powerpoint/2010/main" val="17877298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18A07-F285-8847-A81E-1DFFD8166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D62C6-2176-C306-BC06-1FEBEA8C6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8171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Comparison: XLM-</a:t>
            </a:r>
            <a:r>
              <a:rPr lang="en-US" sz="4000" b="1" dirty="0" err="1">
                <a:solidFill>
                  <a:srgbClr val="0070C0"/>
                </a:solidFill>
              </a:rPr>
              <a:t>RoBERTa</a:t>
            </a:r>
            <a:r>
              <a:rPr lang="en-US" sz="4000" b="1" dirty="0">
                <a:solidFill>
                  <a:srgbClr val="0070C0"/>
                </a:solidFill>
              </a:rPr>
              <a:t> vs LSTM Baseline</a:t>
            </a:r>
            <a:endParaRPr lang="en-UG" sz="4000" b="1" dirty="0">
              <a:solidFill>
                <a:srgbClr val="0070C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09F02C-DC70-ECEB-1E54-F8E43ABF86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412" y="1342733"/>
            <a:ext cx="10356423" cy="3272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8512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DABC5-0775-83F6-5FB7-11982E76D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2145F-9DDA-B122-CCF1-5BFF36B02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9555"/>
            <a:ext cx="10526486" cy="688171"/>
          </a:xfrm>
        </p:spPr>
        <p:txBody>
          <a:bodyPr>
            <a:normAutofit/>
          </a:bodyPr>
          <a:lstStyle/>
          <a:p>
            <a:r>
              <a:rPr lang="en-US" sz="3000" b="1" dirty="0">
                <a:solidFill>
                  <a:srgbClr val="0070C0"/>
                </a:solidFill>
              </a:rPr>
              <a:t>Training Models - 5 epochs with Early stopping + Gradient clipping)</a:t>
            </a:r>
            <a:endParaRPr lang="en-UG" sz="3000" b="1" dirty="0">
              <a:solidFill>
                <a:srgbClr val="0070C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AC3266-36E7-A809-725C-91E3AC4D5346}"/>
              </a:ext>
            </a:extLst>
          </p:cNvPr>
          <p:cNvSpPr txBox="1"/>
          <p:nvPr/>
        </p:nvSpPr>
        <p:spPr>
          <a:xfrm>
            <a:off x="925285" y="1271014"/>
            <a:ext cx="50945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Training</a:t>
            </a:r>
            <a:r>
              <a:rPr lang="en-UG" dirty="0"/>
              <a:t> </a:t>
            </a:r>
            <a:r>
              <a:rPr lang="en-US" dirty="0"/>
              <a:t>LSTM Baseline Model</a:t>
            </a:r>
            <a:r>
              <a:rPr lang="en-UG" dirty="0"/>
              <a:t> with early stopping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4B3E24-05EF-F817-7DC0-17C2004286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266" y="1803634"/>
            <a:ext cx="9948109" cy="3377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9569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69B2F-278A-13E4-35F9-0B3F3D953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7903A-B3D0-25EF-3278-DDE32DCC9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9555"/>
            <a:ext cx="10526486" cy="688171"/>
          </a:xfrm>
        </p:spPr>
        <p:txBody>
          <a:bodyPr>
            <a:normAutofit/>
          </a:bodyPr>
          <a:lstStyle/>
          <a:p>
            <a:r>
              <a:rPr lang="en-US" sz="3000" b="1" dirty="0">
                <a:solidFill>
                  <a:srgbClr val="0070C0"/>
                </a:solidFill>
              </a:rPr>
              <a:t>Training Models - 5 epochs with Early stopping + Gradient clipping)</a:t>
            </a:r>
            <a:endParaRPr lang="en-UG" sz="3000" b="1" dirty="0">
              <a:solidFill>
                <a:srgbClr val="0070C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52B43D-87BC-484B-4444-4C5BDA74805A}"/>
              </a:ext>
            </a:extLst>
          </p:cNvPr>
          <p:cNvSpPr txBox="1"/>
          <p:nvPr/>
        </p:nvSpPr>
        <p:spPr>
          <a:xfrm>
            <a:off x="925285" y="1096841"/>
            <a:ext cx="63572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Training</a:t>
            </a:r>
            <a:r>
              <a:rPr lang="en-UG" dirty="0"/>
              <a:t> </a:t>
            </a:r>
            <a:r>
              <a:rPr lang="en-US" b="1" dirty="0"/>
              <a:t>XLM-</a:t>
            </a:r>
            <a:r>
              <a:rPr lang="en-US" b="1" dirty="0" err="1"/>
              <a:t>RoBERTa</a:t>
            </a:r>
            <a:r>
              <a:rPr lang="en-US" dirty="0"/>
              <a:t> or </a:t>
            </a:r>
            <a:r>
              <a:rPr lang="en-US" dirty="0" err="1"/>
              <a:t>AfriBERTa</a:t>
            </a:r>
            <a:r>
              <a:rPr lang="en-US" dirty="0"/>
              <a:t> Model</a:t>
            </a:r>
            <a:r>
              <a:rPr lang="en-UG" dirty="0"/>
              <a:t> with early stopping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0950BB-4E4E-1D71-A765-92E6369079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498" y="1556412"/>
            <a:ext cx="8240130" cy="4667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2641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FDA46-FEDC-D690-ACD4-8859D9706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BF214-F360-7ABF-CDFD-4BE6C7965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2243" y="440871"/>
            <a:ext cx="10047514" cy="5976257"/>
          </a:xfrm>
        </p:spPr>
        <p:txBody>
          <a:bodyPr>
            <a:noAutofit/>
          </a:bodyPr>
          <a:lstStyle/>
          <a:p>
            <a:pPr marL="457200" lvl="1" indent="0" algn="ctr">
              <a:buNone/>
            </a:pPr>
            <a:endParaRPr lang="en-US" dirty="0"/>
          </a:p>
          <a:p>
            <a:pPr marL="457200" lvl="1" indent="0" algn="ctr">
              <a:buNone/>
            </a:pPr>
            <a:r>
              <a:rPr lang="en-US" sz="5000" b="1" dirty="0">
                <a:solidFill>
                  <a:srgbClr val="0070C0"/>
                </a:solidFill>
              </a:rPr>
              <a:t>Evaluation (F1, Accuracy, ROC-AUC, Confusion Matrix) + Predictions &amp; Attention</a:t>
            </a:r>
          </a:p>
          <a:p>
            <a:pPr marL="457200" lvl="1" indent="0" algn="ctr">
              <a:buNone/>
            </a:pPr>
            <a:endParaRPr lang="en-US" sz="5000" dirty="0"/>
          </a:p>
          <a:p>
            <a:pPr marL="457200" lvl="1" indent="0" algn="just">
              <a:buNone/>
            </a:pPr>
            <a:r>
              <a:rPr lang="en-US" sz="4000" dirty="0"/>
              <a:t>Evaluating both LSTM and XLM-</a:t>
            </a:r>
            <a:r>
              <a:rPr lang="en-US" sz="4000" dirty="0" err="1"/>
              <a:t>RoBERTa</a:t>
            </a:r>
            <a:r>
              <a:rPr lang="en-US" sz="4000" dirty="0"/>
              <a:t> models on test data with comprehensive metrics, example predictions, and attention visualization.</a:t>
            </a:r>
            <a:endParaRPr sz="4000" dirty="0"/>
          </a:p>
        </p:txBody>
      </p:sp>
    </p:spTree>
    <p:extLst>
      <p:ext uri="{BB962C8B-B14F-4D97-AF65-F5344CB8AC3E}">
        <p14:creationId xmlns:p14="http://schemas.microsoft.com/office/powerpoint/2010/main" val="42617815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4A8F4-30FC-A943-AA41-315E66CB2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DC62C-95B1-A289-1295-12E615491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55304"/>
            <a:ext cx="10526486" cy="499716"/>
          </a:xfrm>
        </p:spPr>
        <p:txBody>
          <a:bodyPr>
            <a:normAutofit fontScale="90000"/>
          </a:bodyPr>
          <a:lstStyle/>
          <a:p>
            <a:r>
              <a:rPr lang="en-US" sz="3000" b="1" dirty="0">
                <a:solidFill>
                  <a:srgbClr val="0070C0"/>
                </a:solidFill>
              </a:rPr>
              <a:t>Evaluating LSTM Baseline Model on Test Set</a:t>
            </a:r>
            <a:endParaRPr lang="en-UG" sz="3000" b="1" dirty="0">
              <a:solidFill>
                <a:srgbClr val="0070C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1332C8-5F58-B32A-A8B4-D87A60D25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9011" y="2059211"/>
            <a:ext cx="4110340" cy="295910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990FAA7-3149-4A26-E6EC-1D4E5C2B8F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367" y="1043474"/>
            <a:ext cx="6867158" cy="539497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8434BF0-FE57-1E05-68FD-D04E227255C7}"/>
              </a:ext>
            </a:extLst>
          </p:cNvPr>
          <p:cNvSpPr txBox="1"/>
          <p:nvPr/>
        </p:nvSpPr>
        <p:spPr>
          <a:xfrm>
            <a:off x="7791450" y="5206769"/>
            <a:ext cx="33446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nsolas" panose="020B0609020204030204" pitchFamily="49" charset="0"/>
              </a:rPr>
              <a:t>Macro F1-Score: 0.5796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nsolas" panose="020B0609020204030204" pitchFamily="49" charset="0"/>
              </a:rPr>
              <a:t>Macro ROC-AUC: 0.7590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30376040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73EEC-9F49-C6D8-5859-031E9FE75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53363-467B-A1DE-AC74-C5A3A51F5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279" y="310363"/>
            <a:ext cx="10526486" cy="530783"/>
          </a:xfrm>
        </p:spPr>
        <p:txBody>
          <a:bodyPr>
            <a:normAutofit/>
          </a:bodyPr>
          <a:lstStyle/>
          <a:p>
            <a:r>
              <a:rPr lang="en-US" sz="3000" b="1" dirty="0">
                <a:solidFill>
                  <a:srgbClr val="0070C0"/>
                </a:solidFill>
              </a:rPr>
              <a:t>Evaluating XLM-ROBERTA Transformer Model on Test Set</a:t>
            </a:r>
            <a:endParaRPr lang="en-UG" sz="3000" b="1" dirty="0">
              <a:solidFill>
                <a:srgbClr val="0070C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EAADF0-C44E-EBD8-961B-A53F161B73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279" y="1021702"/>
            <a:ext cx="6867158" cy="539497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4B52AB-CEC6-8658-52BF-6A1C2C14C2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2686" y="1467977"/>
            <a:ext cx="4124035" cy="315845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5FB6862-3C57-4C2C-F95D-0904FA48C6D9}"/>
              </a:ext>
            </a:extLst>
          </p:cNvPr>
          <p:cNvSpPr txBox="1"/>
          <p:nvPr/>
        </p:nvSpPr>
        <p:spPr>
          <a:xfrm>
            <a:off x="7791450" y="5206769"/>
            <a:ext cx="33446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nsolas" panose="020B0609020204030204" pitchFamily="49" charset="0"/>
              </a:rPr>
              <a:t>Macro F1-Score: 0.6130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onsolas" panose="020B0609020204030204" pitchFamily="49" charset="0"/>
              </a:rPr>
              <a:t>Macro ROC-AUC: 0.7976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14612171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4B20D-FADA-4237-9C6E-4D18D1A8F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ECB12-12E2-D514-5FEF-C0239B20B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9555"/>
            <a:ext cx="10526486" cy="688171"/>
          </a:xfrm>
        </p:spPr>
        <p:txBody>
          <a:bodyPr>
            <a:normAutofit fontScale="90000"/>
          </a:bodyPr>
          <a:lstStyle/>
          <a:p>
            <a:r>
              <a:rPr lang="en-US" sz="3000" b="1" dirty="0">
                <a:solidFill>
                  <a:srgbClr val="0070C0"/>
                </a:solidFill>
              </a:rPr>
              <a:t>Predictions on Sample Texts do demonstrate model Behavior on Different Languages and Sentiment Classes</a:t>
            </a:r>
            <a:endParaRPr lang="en-UG" sz="3000" b="1" dirty="0">
              <a:solidFill>
                <a:srgbClr val="0070C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D96A9E-15CC-4D96-22E6-C74F480253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4449" y="1107726"/>
            <a:ext cx="4913865" cy="5375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2713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74282-EEDA-7304-31D9-F796F1D74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D2735-13EF-EE6E-3D07-AE8947864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967" y="516416"/>
            <a:ext cx="10526486" cy="408869"/>
          </a:xfrm>
        </p:spPr>
        <p:txBody>
          <a:bodyPr>
            <a:normAutofit fontScale="90000"/>
          </a:bodyPr>
          <a:lstStyle/>
          <a:p>
            <a:r>
              <a:rPr lang="en-US" sz="3000" b="1" dirty="0">
                <a:solidFill>
                  <a:srgbClr val="0070C0"/>
                </a:solidFill>
              </a:rPr>
              <a:t>Attention Visualization XLM-ROBERTA Transformer Model</a:t>
            </a:r>
            <a:endParaRPr lang="en-UG" sz="3000" b="1" dirty="0">
              <a:solidFill>
                <a:srgbClr val="0070C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A94257-29CD-E1A7-9BC1-34A1914EFB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967" y="1439085"/>
            <a:ext cx="9055806" cy="44936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AD8847-F688-CA71-EA4F-98FFB062BB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4074" y="2469527"/>
            <a:ext cx="3773551" cy="27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8427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3D92C-05C4-854A-7870-E9C43FDAD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F8C67-A77C-127B-898B-50ECCA3B7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742" y="332467"/>
            <a:ext cx="10526486" cy="483959"/>
          </a:xfrm>
        </p:spPr>
        <p:txBody>
          <a:bodyPr>
            <a:normAutofit fontScale="90000"/>
          </a:bodyPr>
          <a:lstStyle/>
          <a:p>
            <a:r>
              <a:rPr lang="en-US" sz="3000" b="1" dirty="0">
                <a:solidFill>
                  <a:srgbClr val="0070C0"/>
                </a:solidFill>
              </a:rPr>
              <a:t>Ablation Studies (Batch Size, Learning Rate, Sequence Length)</a:t>
            </a:r>
            <a:endParaRPr lang="en-UG" sz="3000" b="1" dirty="0">
              <a:solidFill>
                <a:srgbClr val="0070C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C557C76-D353-148D-CE8C-3EBCBF0F0E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742" y="857367"/>
            <a:ext cx="5134692" cy="56681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44D04C5-61CB-69EE-AA2A-BFA7025035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3985" y="857367"/>
            <a:ext cx="5822130" cy="4573977"/>
          </a:xfrm>
          <a:prstGeom prst="rect">
            <a:avLst/>
          </a:prstGeom>
        </p:spPr>
      </p:pic>
      <p:sp>
        <p:nvSpPr>
          <p:cNvPr id="14" name="Rectangle: Diagonal Corners Rounded 13">
            <a:extLst>
              <a:ext uri="{FF2B5EF4-FFF2-40B4-BE49-F238E27FC236}">
                <a16:creationId xmlns:a16="http://schemas.microsoft.com/office/drawing/2014/main" id="{1D8A6D87-E3E4-751C-D1CF-76A8327D21DD}"/>
              </a:ext>
            </a:extLst>
          </p:cNvPr>
          <p:cNvSpPr/>
          <p:nvPr/>
        </p:nvSpPr>
        <p:spPr>
          <a:xfrm>
            <a:off x="5943600" y="5856514"/>
            <a:ext cx="5642515" cy="669019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b="1" dirty="0"/>
              <a:t>NOTE:  This study did not complete due to GPU Limits</a:t>
            </a:r>
            <a:endParaRPr lang="en-UG" b="1" dirty="0"/>
          </a:p>
          <a:p>
            <a:pPr algn="ctr"/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39968625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DAC77-1919-0CEE-7B96-2599D2704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2A09C6-67A2-B434-1FF4-5A09EDD95E4E}"/>
              </a:ext>
            </a:extLst>
          </p:cNvPr>
          <p:cNvSpPr txBox="1"/>
          <p:nvPr/>
        </p:nvSpPr>
        <p:spPr>
          <a:xfrm>
            <a:off x="674914" y="1115115"/>
            <a:ext cx="10635343" cy="4601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5000" b="1" dirty="0">
                <a:solidFill>
                  <a:srgbClr val="0070C0"/>
                </a:solidFill>
              </a:rPr>
              <a:t>Cross-Lingual Testing: </a:t>
            </a:r>
          </a:p>
          <a:p>
            <a:pPr algn="just"/>
            <a:r>
              <a:rPr lang="en-US" sz="5000" b="1" dirty="0">
                <a:solidFill>
                  <a:srgbClr val="0070C0"/>
                </a:solidFill>
              </a:rPr>
              <a:t>Multiple Language Pairs</a:t>
            </a:r>
          </a:p>
          <a:p>
            <a:endParaRPr lang="en-US" dirty="0"/>
          </a:p>
          <a:p>
            <a:r>
              <a:rPr lang="en-US" sz="2500" dirty="0"/>
              <a:t>Test cross-lingual transfer with multiple language pairs:</a:t>
            </a:r>
          </a:p>
          <a:p>
            <a:endParaRPr lang="en-US" sz="2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/>
              <a:t>Train on Swahili, Test on Amharic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/>
              <a:t>Train on Swahili, Test on Pidgin English (</a:t>
            </a:r>
            <a:r>
              <a:rPr lang="en-US" sz="2500" dirty="0" err="1"/>
              <a:t>pcm</a:t>
            </a:r>
            <a:r>
              <a:rPr lang="en-US" sz="2500" dirty="0"/>
              <a:t>)</a:t>
            </a:r>
          </a:p>
          <a:p>
            <a:endParaRPr lang="en-US" sz="2500" dirty="0"/>
          </a:p>
          <a:p>
            <a:r>
              <a:rPr lang="en-US" sz="2500" dirty="0"/>
              <a:t>Testing the model's ability to transfer knowledge across languages by training on one language (Swahili) and evaluating on different target languages.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10B16CB-BC1F-75DF-FAD9-282FE75C638E}"/>
              </a:ext>
            </a:extLst>
          </p:cNvPr>
          <p:cNvSpPr/>
          <p:nvPr/>
        </p:nvSpPr>
        <p:spPr>
          <a:xfrm>
            <a:off x="8392887" y="446315"/>
            <a:ext cx="3374571" cy="3276600"/>
          </a:xfrm>
          <a:prstGeom prst="ellips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>
                <a:solidFill>
                  <a:srgbClr val="FF0000"/>
                </a:solidFill>
              </a:rPr>
              <a:t>NOTE: </a:t>
            </a:r>
          </a:p>
          <a:p>
            <a:pPr algn="ctr"/>
            <a:r>
              <a:rPr lang="en-US" sz="3000" dirty="0"/>
              <a:t>We did not test this section due to GPU Limits</a:t>
            </a:r>
            <a:endParaRPr lang="en-UG" sz="3000" dirty="0"/>
          </a:p>
        </p:txBody>
      </p:sp>
    </p:spTree>
    <p:extLst>
      <p:ext uri="{BB962C8B-B14F-4D97-AF65-F5344CB8AC3E}">
        <p14:creationId xmlns:p14="http://schemas.microsoft.com/office/powerpoint/2010/main" val="15790737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99534-EA6C-22F0-782B-44CDE0232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B286D-E49A-8A2D-6C63-1500432F0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3336" y="1692169"/>
            <a:ext cx="2237773" cy="7286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THE END</a:t>
            </a:r>
            <a:endParaRPr lang="en-UG" b="1" dirty="0">
              <a:solidFill>
                <a:srgbClr val="0070C0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6D162BB-205F-9100-551B-18368E674066}"/>
              </a:ext>
            </a:extLst>
          </p:cNvPr>
          <p:cNvGraphicFramePr>
            <a:graphicFrameLocks noGrp="1"/>
          </p:cNvGraphicFramePr>
          <p:nvPr/>
        </p:nvGraphicFramePr>
        <p:xfrm>
          <a:off x="829519" y="2999172"/>
          <a:ext cx="10532962" cy="2475653"/>
        </p:xfrm>
        <a:graphic>
          <a:graphicData uri="http://schemas.openxmlformats.org/drawingml/2006/table">
            <a:tbl>
              <a:tblPr/>
              <a:tblGrid>
                <a:gridCol w="1620455">
                  <a:extLst>
                    <a:ext uri="{9D8B030D-6E8A-4147-A177-3AD203B41FA5}">
                      <a16:colId xmlns:a16="http://schemas.microsoft.com/office/drawing/2014/main" val="1810663039"/>
                    </a:ext>
                  </a:extLst>
                </a:gridCol>
                <a:gridCol w="8912507">
                  <a:extLst>
                    <a:ext uri="{9D8B030D-6E8A-4147-A177-3AD203B41FA5}">
                      <a16:colId xmlns:a16="http://schemas.microsoft.com/office/drawing/2014/main" val="3389121005"/>
                    </a:ext>
                  </a:extLst>
                </a:gridCol>
              </a:tblGrid>
              <a:tr h="920171"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STUDENTS</a:t>
                      </a:r>
                      <a:endParaRPr lang="en-UG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13741" marR="113741" marT="56870" marB="568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AINEDEMBE DENIS</a:t>
                      </a:r>
                      <a:br>
                        <a:rPr lang="en-CA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CA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+256 788-674576 dembedenisjb@gmail.com, ainedembe.denis@stud.umu.ac.ug</a:t>
                      </a:r>
                      <a:endParaRPr lang="en-UG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0247" marR="10247" marT="102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2581867"/>
                  </a:ext>
                </a:extLst>
              </a:tr>
              <a:tr h="920171">
                <a:tc vMerge="1">
                  <a:txBody>
                    <a:bodyPr/>
                    <a:lstStyle/>
                    <a:p>
                      <a:endParaRPr lang="en-U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G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MUSINGUZI BENSON</a:t>
                      </a:r>
                      <a:br>
                        <a:rPr lang="en-UG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G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+256 782 942245, musiben@gmail.com, musinguzi.benson@stud.umu.ac.ug</a:t>
                      </a:r>
                    </a:p>
                  </a:txBody>
                  <a:tcPr marL="10247" marR="10247" marT="102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7176790"/>
                  </a:ext>
                </a:extLst>
              </a:tr>
              <a:tr h="63531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LECTURER </a:t>
                      </a:r>
                      <a:endParaRPr lang="en-UG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0247" marR="10247" marT="102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Dr. </a:t>
                      </a:r>
                      <a:r>
                        <a:rPr lang="en-CA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Sibitenda</a:t>
                      </a:r>
                      <a:r>
                        <a:rPr lang="en-CA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Harriet</a:t>
                      </a:r>
                      <a:br>
                        <a:rPr lang="en-CA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CA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+256 777 056581 hsibitenda@umu.ac.ug</a:t>
                      </a:r>
                      <a:endParaRPr lang="en-UG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0247" marR="10247" marT="102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95549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6561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696</TotalTime>
  <Words>1205</Words>
  <Application>Microsoft Office PowerPoint</Application>
  <PresentationFormat>Widescreen</PresentationFormat>
  <Paragraphs>163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Calibri Light</vt:lpstr>
      <vt:lpstr>Consolas</vt:lpstr>
      <vt:lpstr>Times New Roman</vt:lpstr>
      <vt:lpstr>Office Theme</vt:lpstr>
      <vt:lpstr>Natural Language Processing Sentiment Analysis - AfriSenti Twitter Sentiment dataset</vt:lpstr>
      <vt:lpstr>About the AfriSenti Twitter Sentiment Dataset</vt:lpstr>
      <vt:lpstr>Project Objectives</vt:lpstr>
      <vt:lpstr>Real-Life Applicability</vt:lpstr>
      <vt:lpstr>Loading AfriSenti-Twitter Dataset: Listing Available Language Configurations</vt:lpstr>
      <vt:lpstr>Loading the AfriSenti Twitter Sentiment dataset</vt:lpstr>
      <vt:lpstr>AfriSenti Twitter dataset: Total tweets across all languages</vt:lpstr>
      <vt:lpstr>Initial Data Exploration: Load train data from all languages</vt:lpstr>
      <vt:lpstr>Initial Data Exploration: Language Distribution on the Train Set</vt:lpstr>
      <vt:lpstr>Initial Data Exploration: Text length Distribution the Train Set</vt:lpstr>
      <vt:lpstr>Initial Data Exploration: Overall Label Distribution</vt:lpstr>
      <vt:lpstr>Initial Data Exploration: Label Distribution by Language</vt:lpstr>
      <vt:lpstr>Preprocess text using multilingual tokenizers (mBERT, XLM-RoBERTa)</vt:lpstr>
      <vt:lpstr>Preprocess text: Label mapping &amp; tokenizing Tweets Using XLM-RoBERTa</vt:lpstr>
      <vt:lpstr>PowerPoint Presentation</vt:lpstr>
      <vt:lpstr>XLM-RoBERTa Transformer Model</vt:lpstr>
      <vt:lpstr>LSTM Baseline Model</vt:lpstr>
      <vt:lpstr>Comparison: XLM-RoBERTa vs LSTM Baseline</vt:lpstr>
      <vt:lpstr>Training Models - 5 epochs with Early stopping + Gradient clipping)</vt:lpstr>
      <vt:lpstr>Training Models - 5 epochs with Early stopping + Gradient clipping)</vt:lpstr>
      <vt:lpstr>PowerPoint Presentation</vt:lpstr>
      <vt:lpstr>Evaluating LSTM Baseline Model on Test Set</vt:lpstr>
      <vt:lpstr>Evaluating XLM-ROBERTA Transformer Model on Test Set</vt:lpstr>
      <vt:lpstr>Predictions on Sample Texts do demonstrate model Behavior on Different Languages and Sentiment Classes</vt:lpstr>
      <vt:lpstr>Attention Visualization XLM-ROBERTA Transformer Model</vt:lpstr>
      <vt:lpstr>Ablation Studies (Batch Size, Learning Rate, Sequence Length)</vt:lpstr>
      <vt:lpstr>PowerPoint Presentation</vt:lpstr>
      <vt:lpstr>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Ainedembe Denis</dc:creator>
  <cp:lastModifiedBy>Ainedembe Denis</cp:lastModifiedBy>
  <cp:revision>267</cp:revision>
  <dcterms:created xsi:type="dcterms:W3CDTF">2025-11-24T20:40:08Z</dcterms:created>
  <dcterms:modified xsi:type="dcterms:W3CDTF">2025-12-03T09:14:48Z</dcterms:modified>
</cp:coreProperties>
</file>